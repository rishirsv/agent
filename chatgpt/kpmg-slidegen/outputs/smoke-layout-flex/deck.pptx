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24</c:v>
                </c:pt>
                <c:pt idx="1">
                  <c:v>31</c:v>
                </c:pt>
                <c:pt idx="2">
                  <c:v>29</c:v>
                </c:pt>
                <c:pt idx="3">
                  <c:v>36</c:v>
                </c:pt>
              </c:numCache>
            </c:numRef>
          </c:val>
        </c:ser>
        <c:ser>
          <c:idx val="1"/>
          <c:order val="1"/>
          <c:tx>
            <c:strRef>
              <c:f>Sheet1!$C$1</c:f>
              <c:strCache>
                <c:ptCount val="1"/>
                <c:pt idx="0">
                  <c:v>Scenario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21</c:v>
                </c:pt>
                <c:pt idx="1">
                  <c:v>27</c:v>
                </c:pt>
                <c:pt idx="2">
                  <c:v>33</c:v>
                </c:pt>
                <c:pt idx="3">
                  <c:v>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Index</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100</c:v>
                </c:pt>
                <c:pt idx="1">
                  <c:v>108</c:v>
                </c:pt>
                <c:pt idx="2">
                  <c:v>111</c:v>
                </c:pt>
                <c:pt idx="3">
                  <c:v>107</c:v>
                </c:pt>
                <c:pt idx="4">
                  <c:v>116</c:v>
                </c:pt>
                <c:pt idx="5">
                  <c:v>123</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All figures are synthetic lorem values and exist only for layout stress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8" Type="http://schemas.openxmlformats.org/officeDocument/2006/relationships/slideLayout" Target="../slideLayouts/slideLayout8.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Comprehensive Validation Deck</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Template-wide stress test for dense narrative, chart, and table content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Variant Divider Dark</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Variant Divider Light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Contents and Narrative Layouts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Contents and Narrative Layouts</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2-7)</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One-column narrative density checks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Two-column balance and readability checks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Quality of Earnings Narrative</a:t>
            </a:r>
            <a:endParaRPr lang="en-US" sz="1200" dirty="0"/>
          </a:p>
        </p:txBody>
      </p:sp>
      <p:sp>
        <p:nvSpPr>
          <p:cNvPr id="11" name="Text 9"/>
          <p:cNvSpPr/>
          <p:nvPr/>
        </p:nvSpPr>
        <p:spPr>
          <a:xfrm>
            <a:off x="3068361"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Normalization commentary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Working capital and seasonality observations</a:t>
            </a:r>
            <a:endParaRPr lang="en-US" sz="1000" dirty="0"/>
          </a:p>
        </p:txBody>
      </p:sp>
      <p:sp>
        <p:nvSpPr>
          <p:cNvPr id="12" name="Text 10"/>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3" name="Shape 11"/>
          <p:cNvSpPr/>
          <p:nvPr/>
        </p:nvSpPr>
        <p:spPr>
          <a:xfrm>
            <a:off x="5140940" y="1737360"/>
            <a:ext cx="502920" cy="0"/>
          </a:xfrm>
          <a:prstGeom prst="line">
            <a:avLst/>
          </a:prstGeom>
          <a:noFill/>
          <a:ln w="12700">
            <a:solidFill>
              <a:srgbClr val="00338D"/>
            </a:solidFill>
            <a:prstDash val="solid"/>
          </a:ln>
        </p:spPr>
      </p:sp>
      <p:sp>
        <p:nvSpPr>
          <p:cNvPr id="14" name="Text 12"/>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Comparative Two-Column Analysis</a:t>
            </a:r>
            <a:endParaRPr lang="en-US" sz="1200" dirty="0"/>
          </a:p>
        </p:txBody>
      </p:sp>
      <p:sp>
        <p:nvSpPr>
          <p:cNvPr id="15" name="Text 13"/>
          <p:cNvSpPr/>
          <p:nvPr/>
        </p:nvSpPr>
        <p:spPr>
          <a:xfrm>
            <a:off x="5140940"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Parallel argumentation format</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Cross-column readability</a:t>
            </a:r>
            <a:endParaRPr lang="en-US" sz="1000" dirty="0"/>
          </a:p>
        </p:txBody>
      </p:sp>
      <p:sp>
        <p:nvSpPr>
          <p:cNvPr id="16" name="Text 14"/>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7" name="Shape 15"/>
          <p:cNvSpPr/>
          <p:nvPr/>
        </p:nvSpPr>
        <p:spPr>
          <a:xfrm>
            <a:off x="7213519" y="1737360"/>
            <a:ext cx="502920" cy="0"/>
          </a:xfrm>
          <a:prstGeom prst="line">
            <a:avLst/>
          </a:prstGeom>
          <a:noFill/>
          <a:ln w="12700">
            <a:solidFill>
              <a:srgbClr val="00338D"/>
            </a:solidFill>
            <a:prstDash val="solid"/>
          </a:ln>
        </p:spPr>
      </p:sp>
      <p:sp>
        <p:nvSpPr>
          <p:cNvPr id="18" name="Text 16"/>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Narrow Table Analysis</a:t>
            </a:r>
            <a:endParaRPr lang="en-US" sz="1200" dirty="0"/>
          </a:p>
        </p:txBody>
      </p:sp>
      <p:sp>
        <p:nvSpPr>
          <p:cNvPr id="19" name="Text 17"/>
          <p:cNvSpPr/>
          <p:nvPr/>
        </p:nvSpPr>
        <p:spPr>
          <a:xfrm>
            <a:off x="7213519"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Row-density and visual rhythm</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Insight panel behavior</a:t>
            </a:r>
            <a:endParaRPr lang="en-US" sz="1000" dirty="0"/>
          </a:p>
        </p:txBody>
      </p:sp>
      <p:sp>
        <p:nvSpPr>
          <p:cNvPr id="20" name="Text 18"/>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1" name="Shape 19"/>
          <p:cNvSpPr/>
          <p:nvPr/>
        </p:nvSpPr>
        <p:spPr>
          <a:xfrm>
            <a:off x="9286098" y="1737360"/>
            <a:ext cx="502920" cy="0"/>
          </a:xfrm>
          <a:prstGeom prst="line">
            <a:avLst/>
          </a:prstGeom>
          <a:noFill/>
          <a:ln w="12700">
            <a:solidFill>
              <a:srgbClr val="00338D"/>
            </a:solidFill>
            <a:prstDash val="solid"/>
          </a:ln>
        </p:spPr>
      </p:sp>
      <p:sp>
        <p:nvSpPr>
          <p:cNvPr id="22" name="Text 20"/>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Wide Chart + Text</a:t>
            </a:r>
            <a:endParaRPr lang="en-US" sz="1200" dirty="0"/>
          </a:p>
        </p:txBody>
      </p:sp>
      <p:sp>
        <p:nvSpPr>
          <p:cNvPr id="23" name="Text 21"/>
          <p:cNvSpPr/>
          <p:nvPr/>
        </p:nvSpPr>
        <p:spPr>
          <a:xfrm>
            <a:off x="9286098"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Body and chart coexistence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Label and legend clarity</a:t>
            </a:r>
            <a:endParaRPr lang="en-US" sz="1000" dirty="0"/>
          </a:p>
        </p:txBody>
      </p:sp>
      <p:sp>
        <p:nvSpPr>
          <p:cNvPr id="24" name="Text 22"/>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5" name="Shape 23"/>
          <p:cNvSpPr/>
          <p:nvPr/>
        </p:nvSpPr>
        <p:spPr>
          <a:xfrm>
            <a:off x="995782" y="4169664"/>
            <a:ext cx="502920" cy="0"/>
          </a:xfrm>
          <a:prstGeom prst="line">
            <a:avLst/>
          </a:prstGeom>
          <a:noFill/>
          <a:ln w="12700">
            <a:solidFill>
              <a:srgbClr val="00338D"/>
            </a:solidFill>
            <a:prstDash val="solid"/>
          </a:ln>
        </p:spPr>
      </p:sp>
      <p:sp>
        <p:nvSpPr>
          <p:cNvPr id="26" name="Text 24"/>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Wide Chart + Table + Text</a:t>
            </a:r>
            <a:endParaRPr lang="en-US" sz="1200" dirty="0"/>
          </a:p>
        </p:txBody>
      </p:sp>
      <p:sp>
        <p:nvSpPr>
          <p:cNvPr id="27" name="Text 25"/>
          <p:cNvSpPr/>
          <p:nvPr/>
        </p:nvSpPr>
        <p:spPr>
          <a:xfrm>
            <a:off x="995782"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Table and chart stacking</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Heading and note source placement</a:t>
            </a:r>
            <a:endParaRPr lang="en-US" sz="1000" dirty="0"/>
          </a:p>
        </p:txBody>
      </p:sp>
      <p:sp>
        <p:nvSpPr>
          <p:cNvPr id="28" name="Text 26"/>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29" name="Shape 27"/>
          <p:cNvSpPr/>
          <p:nvPr/>
        </p:nvSpPr>
        <p:spPr>
          <a:xfrm>
            <a:off x="3068361" y="4169664"/>
            <a:ext cx="502920" cy="0"/>
          </a:xfrm>
          <a:prstGeom prst="line">
            <a:avLst/>
          </a:prstGeom>
          <a:noFill/>
          <a:ln w="12700">
            <a:solidFill>
              <a:srgbClr val="00338D"/>
            </a:solidFill>
            <a:prstDash val="solid"/>
          </a:ln>
        </p:spPr>
      </p:sp>
      <p:sp>
        <p:nvSpPr>
          <p:cNvPr id="30" name="Text 28"/>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Scaffold and Four-Box Layout</a:t>
            </a:r>
            <a:endParaRPr lang="en-US" sz="1200" dirty="0"/>
          </a:p>
        </p:txBody>
      </p:sp>
      <p:sp>
        <p:nvSpPr>
          <p:cNvPr id="31" name="Text 29"/>
          <p:cNvSpPr/>
          <p:nvPr/>
        </p:nvSpPr>
        <p:spPr>
          <a:xfrm>
            <a:off x="3068361"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Scaffold defaults with dense inputs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Four-column copy distribution</a:t>
            </a:r>
            <a:endParaRPr lang="en-US" sz="1000" dirty="0"/>
          </a:p>
        </p:txBody>
      </p:sp>
      <p:sp>
        <p:nvSpPr>
          <p:cNvPr id="32" name="Text 30"/>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3" name="Shape 31"/>
          <p:cNvSpPr/>
          <p:nvPr/>
        </p:nvSpPr>
        <p:spPr>
          <a:xfrm>
            <a:off x="5140940" y="4169664"/>
            <a:ext cx="502920" cy="0"/>
          </a:xfrm>
          <a:prstGeom prst="line">
            <a:avLst/>
          </a:prstGeom>
          <a:noFill/>
          <a:ln w="12700">
            <a:solidFill>
              <a:srgbClr val="00338D"/>
            </a:solidFill>
            <a:prstDash val="solid"/>
          </a:ln>
        </p:spPr>
      </p:sp>
      <p:sp>
        <p:nvSpPr>
          <p:cNvPr id="34" name="Text 32"/>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Closing and Divider Variants</a:t>
            </a:r>
            <a:endParaRPr lang="en-US" sz="1200" dirty="0"/>
          </a:p>
        </p:txBody>
      </p:sp>
      <p:sp>
        <p:nvSpPr>
          <p:cNvPr id="35" name="Text 33"/>
          <p:cNvSpPr/>
          <p:nvPr/>
        </p:nvSpPr>
        <p:spPr>
          <a:xfrm>
            <a:off x="5140940"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Dark and light divider checks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Back cover rendering</a:t>
            </a:r>
            <a:endParaRPr lang="en-US" sz="1000" dirty="0"/>
          </a:p>
        </p:txBody>
      </p:sp>
      <p:sp>
        <p:nvSpPr>
          <p:cNvPr id="36" name="Text 3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One-Column Lorem Narrative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Long-form narrative should wrap cleanly, preserve paragraph cadence, and avoid collisions with footer chrome in non-cover slides</a:t>
            </a:r>
            <a:endParaRPr lang="en-US" sz="1000" dirty="0"/>
          </a:p>
        </p:txBody>
      </p:sp>
      <p:sp>
        <p:nvSpPr>
          <p:cNvPr id="4" name="Text 2"/>
          <p:cNvSpPr/>
          <p:nvPr/>
        </p:nvSpPr>
        <p:spPr>
          <a:xfrm>
            <a:off x="998433" y="1716786"/>
            <a:ext cx="10204338"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Faucibus in ornare quam viverra orci sagittis eu volutpat odio facilisis mauris sit amet massa vitae tortor condimentum lacinia quis.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Ut sem viverra aliquet eget sit amet tellus cras adipiscing enim eu turpis egestas pretium aenean pharetra magna ac placerat vestibulum lectus mauris ultrices eros in cursus turpis massa tincidunt dui ut ornare lectus sit amet est.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Aliquam malesuada bibendum arcu vitae elementum curabitur vitae nunc sed velit dignissim sodales ut eu sem integer vitae justo eget magna fermentum iaculis eu non diam phasellus vestibulum lorem sed risus ultricies tristique nulla aliquet enim.</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Two-Column Baseline Layout Validation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Both columns contain dense narrative to validate paragraph alignment and continuation behavior</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Curabitur gravida arcu ac tortor dignissim convallis aenean et tortor at risus viverra adipiscing at in tellus integer feugiat scelerisque varius morbi enim.</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Mattis pellentesque id nibh tortor id aliquet lectus proin nibh nisl condimentum id venenatis a condimentum vitae sapien pellentesque habitant morbi tristique.</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Nibh nisl condimentum id venenatis a condimentum vitae sapien pellentesque habitant morbi tristique senectus et netus et malesuada fames ac turpis egestas.</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implications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Pulvinar neque laoreet suspendisse interdum consectetur libero id faucibus nisl tincidunt eget nullam non nisi est sit amet facilisis magna etiam tempor.</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Velit scelerisque in dictum non consectetur a erat nam at lectus urna duis convallis convallis tellus id interdum velit laoreet id donec ultrices tincidunt.</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Malesuada fames ac turpis egestas integer eget aliquet nibh praesent tristique magna sit amet purus gravida quis blandit turpis cursus in hac habitasse.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Narrow Table Layout Stress Test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table rows and verbose labels validate pagination and insight panel consistency</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Narrow Table Layout Stress Test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FY2026E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run-rate adjusted for seasonality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$142.4M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$188.7M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$224.9M</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after normalization items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expense as percent of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turns (average annualized)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5.7x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Working capital days outstanding</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conversion ratio</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0.84x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0.91x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0.95x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run-rate and cash conversion both improve through the horizon, supporting a constructive baseline view.</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normalization peaks in FY2025 before moderating, so mix and delivery-cost discipline remain key diligence focus areas.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metrics improve consistently, reducing cash drag and improving operating resilience.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this table as a directional view and validate final figures during confirmatory diligence.</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All figures are synthetic lorem values and exist only for layout stress validation.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Wide Chart + Text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narrative plus multiseries chart to validate overlap, labels, and source placement</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Key observations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Nunc sed augue lacus viverra vitae congue eu consequat ac felis donec et odio pellentesque diam volutpat commodo sed egestas egestas fringilla phasellus faucibus.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Ipsum faucibus vitae aliquet nec ullamcorper sit amet risus nullam eget felis eget nunc lobortis mattis aliquam faucibus purus in massa tempor nec feugiat.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Convallis convallis tellus id interdum velit laoreet id donec ultrices tincidunt arcu non sodales neque sodales ut etiam sit amet nisl purus in mollis.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Risus feugiat in ante metus dictum at tempor commodo ullamcorper a lacus vestibulum sed arcu non odio euismod lacinia at quis risus sed vulputate.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Duis tristique sollicitudin nibh sit amet commodo nulla facilisi nullam vehicula ipsum a arcu cursus vitae congue mauris rhoncus aenean vel elit scelerisque.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Elementum integer enim neque volutpat ac tincidunt vitae semper quis lectus nulla at volutpat diam ut venenatis tellus in metus vulputate eu scelerisque.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lorem model output</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Wide Chart + Table + Text Stress Test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Validates combined heading, body, chart, table, and note source regions under dense content</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summary heading for combined layout validation</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Pricing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Volume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Mix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FX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Implications for valuation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Pharetra magna ac placerat vestibulum lectus mauris ultrices eros in cursus turpis massa tincidunt dui ut ornare lectus sit amet est placerat in egestas.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Molestie a iaculis at erat pellentesque adipiscing commodo elit at imperdiet dui accumsan sit amet nulla facilisi morbi tempus iaculis urna id volutpat.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Euismod in pellentesque massa placerat duis ultricies lacus sed turpis tincidunt id aliquet risus feugiat in ante metus dictum at tempor commodo ullamcorper.</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lorem trend</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Four-Box Layout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copy in each text box validates heading/body spacing and footer-safe geometry</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A</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Current-state readout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Ut enim ad minim veniam quis nostrud exercitation ullamco laboris nisi ut aliquip ex ea commodo consequat.</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B</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Action plan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C</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Integer feugiat scelerisque varius morbi enim nunc faucibus a pellentesque sit amet porttitor eget dolor.</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Maecenas volutpat blandit aliquam etiam erat velit scelerisque in dictum non consectetur a erat nam.</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D</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Amet aliquam id diam maecenas ultricies mi eget mauris pharetra et ultrices neque ornare aenean euismod.</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Semper feugiat nibh sed pulvinar proin gravida hendrerit lectus a.</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deck is generated for layout validation only. Content is synthetic lorem ipsum text and does not represent factual diligence conclusions.</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Layout Flex One-Per-Layout</dc:title>
  <dc:subject>Layout Stress Test</dc:subject>
  <dc:creator>KPMG LLP</dc:creator>
  <cp:lastModifiedBy>KPMG LLP</cp:lastModifiedBy>
  <cp:revision>1</cp:revision>
  <dcterms:created xsi:type="dcterms:W3CDTF">2026-02-24T15:17:52Z</dcterms:created>
  <dcterms:modified xsi:type="dcterms:W3CDTF">2026-02-24T15:17:52Z</dcterms:modified>
</cp:coreProperties>
</file>